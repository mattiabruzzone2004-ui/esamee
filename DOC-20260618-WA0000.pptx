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15.xml"/><Relationship Id="rId10" Type="http://schemas.openxmlformats.org/officeDocument/2006/relationships/slide" Target="slides/slide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3.xml"/><Relationship Id="rId16" Type="http://schemas.openxmlformats.org/officeDocument/2006/relationships/slide" Target="slides/slide1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C6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/>
          <p:nvPr/>
        </p:nvSpPr>
        <p:spPr>
          <a:xfrm>
            <a:off x="7040880" y="3383280"/>
            <a:ext cx="3291900" cy="3291900"/>
          </a:xfrm>
          <a:prstGeom prst="ellipse">
            <a:avLst/>
          </a:prstGeom>
          <a:solidFill>
            <a:srgbClr val="FBF1DD">
              <a:alpha val="121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863840" y="4160520"/>
            <a:ext cx="1828800" cy="1828800"/>
          </a:xfrm>
          <a:prstGeom prst="ellipse">
            <a:avLst/>
          </a:prstGeom>
          <a:solidFill>
            <a:srgbClr val="FBF1DD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40080" y="123444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1DD"/>
              </a:buClr>
              <a:buSzPts val="1300"/>
              <a:buFont typeface="Lato"/>
              <a:buNone/>
            </a:pPr>
            <a:r>
              <a:rPr b="1" lang="en-US" sz="1300">
                <a:solidFill>
                  <a:srgbClr val="FBF1DD"/>
                </a:solidFill>
                <a:latin typeface="Lato"/>
                <a:ea typeface="Lato"/>
                <a:cs typeface="Lato"/>
                <a:sym typeface="Lato"/>
              </a:rPr>
              <a:t>ANALISI E RAPPRESENTAZIONE DATI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080" y="1691640"/>
            <a:ext cx="7863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T Serif"/>
              <a:buNone/>
            </a:pPr>
            <a:r>
              <a:rPr b="1" lang="en-US" sz="46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Il consumo di energia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T Serif"/>
              <a:buNone/>
            </a:pPr>
            <a:r>
              <a:rPr b="1" lang="en-US" sz="460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e il PIL nel mondo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58368" y="3611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2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DCE3F2"/>
                </a:solidFill>
                <a:latin typeface="Lato"/>
                <a:ea typeface="Lato"/>
                <a:cs typeface="Lato"/>
                <a:sym typeface="Lato"/>
              </a:rPr>
              <a:t>A cura di Alessandro Remersaro e Mattia Bruzzone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58368" y="449884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F1DD"/>
              </a:buClr>
              <a:buSzPts val="1300"/>
              <a:buFont typeface="Lato"/>
              <a:buNone/>
            </a:pPr>
            <a:r>
              <a:rPr b="1" lang="en-US" sz="1300">
                <a:solidFill>
                  <a:srgbClr val="FBF1DD"/>
                </a:solidFill>
                <a:latin typeface="Lato"/>
                <a:ea typeface="Lato"/>
                <a:cs typeface="Lato"/>
                <a:sym typeface="Lato"/>
              </a:rPr>
              <a:t>Università di Genova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0" y="36576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BF1DD">
                    <a:alpha val="14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F1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 PARTE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Introduzione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Obiettivo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2788920"/>
          </a:xfrm>
          <a:prstGeom prst="roundRect">
            <a:avLst>
              <a:gd name="adj" fmla="val 3934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1560" y="2148840"/>
            <a:ext cx="1143000" cy="1143000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pic>
        <p:nvPicPr>
          <p:cNvPr id="5" name="Image 0" descr="/home/claude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68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6040" y="1600200"/>
            <a:ext cx="5486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Indagare se esista un legame tra il PIL di un paese e il suo consumo di energia</a:t>
            </a:r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e individuare quali paesi producono più ricchezza per unità di energia — i più </a:t>
            </a:r>
            <a:pPr algn="l" indent="0" marL="0">
              <a:lnSpc>
                <a:spcPct val="112000"/>
              </a:lnSpc>
              <a:buNone/>
            </a:pPr>
            <a:r>
              <a:rPr lang="en-US" sz="2100" b="1" i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efficienti</a:t>
            </a:r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Fonte dei dati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Dati reali e di pubblico dominio, scaricabili liberamente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2788920"/>
          </a:xfrm>
          <a:prstGeom prst="roundRect">
            <a:avLst>
              <a:gd name="adj" fmla="val 3279"/>
            </a:avLst>
          </a:prstGeom>
          <a:solidFill>
            <a:srgbClr val="0A2C6B"/>
          </a:solidFill>
          <a:ln/>
          <a:effectLst>
            <a:outerShdw sx="100000" sy="100000" kx="0" ky="0" algn="bl" rotWithShape="0" blurRad="114300" dist="38100" dir="5400000">
              <a:srgbClr val="0A2C6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FBF1DD"/>
          </a:solidFill>
          <a:ln/>
        </p:spPr>
        <p:txBody>
          <a:bodyPr/>
          <a:p/>
        </p:txBody>
      </p:sp>
      <p:pic>
        <p:nvPicPr>
          <p:cNvPr id="6" name="Image 0" descr="/home/claude/icons/databas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99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World in Data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6968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sezione Energy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6968" y="3785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F1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Dati reali  ·  licenza aperta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Basato su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AD9B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956048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Energy Institute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56048" y="2258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Statistical Review of World Energy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2715768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AD9B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956048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EIA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56048" y="3099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U.S. Energy Information Administration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54880" y="3557016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AD9B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956048" y="3648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Maddison Project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56048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 storiche del PIL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Analisi e pulizia dei dati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Dal dataset grezzo a una tabella pronta all'analisi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" cy="420624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Tabella di partenza: un paese per ogni anno (fonte OWID + Maddison)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9568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Rinominata la colonna dell'energia in « energia_TWh » (unità: TWh)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5968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Tenute solo le colonne utili: paese, anno, PIL, energia, intensità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Tolte le righe senza dato di energia (6 righe: Bangladesh 1965–70)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87705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Creato un 2° file con l'energia sommata per continente (per la mappa)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41732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264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RISULTATO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165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144768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paesi analizzati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44768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58 anni di dati  ·  1965–2022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35204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D9B4"/>
            </a:solidFill>
            <a:prstDash val="solid"/>
          </a:ln>
        </p:spPr>
        <p:txBody>
          <a:bodyPr/>
          <a:p/>
        </p:txBody>
      </p:sp>
      <p:pic>
        <p:nvPicPr>
          <p:cNvPr id="25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363931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2084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Strumento  </a:t>
            </a:r>
            <a:pPr indent="0" marL="0">
              <a:buNone/>
            </a:pPr>
            <a:r>
              <a:rPr lang="en-US" sz="140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Descrizione del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colonne del file energia_paesi.csv (un paese per anno)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Campo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Descrizione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Paese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Anno  (1965–2022)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gdp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PIL, in $ internazionali PPP  (costanti 2011)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energia_TWh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Consumo di energia primaria  (TWh)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intensita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Intensità energetica = energia / PIL  (kWh / $)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0" y="36576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BF1DD">
                    <a:alpha val="14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F1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SECONDA PARTE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Analisi dei grafici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 · Serie storiche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Consumo di energia nel tempo — Italia, Germania, USA, Cina, India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035040" y="13258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36208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COSA EMERGE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Cina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cresce in modo ripidissimo e supera gli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USA intorno al 2009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Italia e Germania restano 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piatte o in leggero calo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1000" dirty="0"/>
          </a:p>
        </p:txBody>
      </p:sp>
      <p:pic>
        <p:nvPicPr>
          <p:cNvPr id="11" name="Picture 10" descr=".tmp_g1_lin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51663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 – Confronto del GDP tra paesi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GDP dei paesi selezionati, anno 2022 (in $ PPP)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035040" y="13258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36208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COSA EMERGE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Cina ha il GDP più alto, davanti a USA e India. È GDP a parità di potere d'acquisto (PPP): per questo la Cina supera gli USA.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1000" dirty="0"/>
          </a:p>
        </p:txBody>
      </p:sp>
      <p:pic>
        <p:nvPicPr>
          <p:cNvPr id="11" name="Picture 10" descr=".tmp_g2_bar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51663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 – Mappa del consumo per continente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Consumo totale di energia per continente, 2022 (mappa)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035040" y="13258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36208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COSA EMERGE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L'Asia è di gran lunga il continente che consuma più energia,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seguono America ed Europa.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Il consumo è fortemente concentrato in Asia.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1000" dirty="0"/>
          </a:p>
        </p:txBody>
      </p:sp>
      <p:pic>
        <p:nvPicPr>
          <p:cNvPr id="11" name="Picture 10" descr=".tmp_g3_map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51663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 – Relazione GDP – consumo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GDP vs consumo totale (scala log), colore = intensità energetica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035040" y="13258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36208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COSA EMERGE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punti si allineano su una retta (R² ≈ 0,99): GDP e consumo crescono insieme.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C6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È in gran parte effetto-dimensione: un paese grande ha tanto GDP e tanta energia.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C7D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L'efficienza si legge dal colore (intensità): verde = efficiente, rosso = energivoro.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23A2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/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</a:t>
            </a:r>
            <a:endParaRPr lang="en-US" sz="1000" dirty="0"/>
          </a:p>
        </p:txBody>
      </p:sp>
      <p:pic>
        <p:nvPicPr>
          <p:cNvPr id="11" name="Picture 10" descr=".tmp_g4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51663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 dashboard interattiva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quattro grafici riuniti in un'unica vista esplorabile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8978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home/claude/charts/dashboard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08760"/>
            <a:ext cx="56235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37160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0A2C6B"/>
          </a:solidFill>
          <a:ln/>
          <a:effectLst>
            <a:outerShdw sx="100000" sy="100000" kx="0" ky="0" algn="bl" rotWithShape="0" blurRad="114300" dist="38100" dir="5400000">
              <a:srgbClr val="0A2C6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784848" y="1627632"/>
            <a:ext cx="777240" cy="777240"/>
          </a:xfrm>
          <a:prstGeom prst="ellipse">
            <a:avLst/>
          </a:prstGeom>
          <a:solidFill>
            <a:srgbClr val="FBF1DD"/>
          </a:solidFill>
          <a:ln/>
        </p:spPr>
        <p:txBody>
          <a:bodyPr/>
          <a:p/>
        </p:txBody>
      </p:sp>
      <p:pic>
        <p:nvPicPr>
          <p:cNvPr id="8" name="Image 1" descr="/home/claude/icons/desktop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85623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Plotly Dash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766560" y="29077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E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 in Python: filtri e tooltip interattivi su ciascun grafico.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66560" y="38587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F1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AVVIO IN LOCALE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766560" y="4096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1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127.0.0.1:8050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4672" y="1618488"/>
            <a:ext cx="640080" cy="640080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pic>
        <p:nvPicPr>
          <p:cNvPr id="5" name="Image 0" descr="/home/claude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797710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27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Relazione positiva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18928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Legame chiaro tra GDP e consumo di energia (R² ≈ 0,99).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8862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965192" y="1618488"/>
            <a:ext cx="640080" cy="640080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pic>
        <p:nvPicPr>
          <p:cNvPr id="10" name="Image 1" descr="/home/claude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14" y="179771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5270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Efficienza variabile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760720" y="18928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 misura con l'intensità energetica (energia / PIL): più bassa = più efficiente.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38862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04672" y="3264408"/>
            <a:ext cx="640080" cy="640080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pic>
        <p:nvPicPr>
          <p:cNvPr id="15" name="Image 2" descr="/home/claude/icons/globeas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344363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Consumo concentrato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00200" y="35387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Oltre metà del consumo mondiale di energia si trova in Asia.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971800"/>
            <a:ext cx="388620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965192" y="3264408"/>
            <a:ext cx="640080" cy="640080"/>
          </a:xfrm>
          <a:prstGeom prst="ellipse">
            <a:avLst/>
          </a:prstGeom>
          <a:solidFill>
            <a:srgbClr val="0A2C6B"/>
          </a:solidFill>
          <a:ln/>
        </p:spPr>
        <p:txBody>
          <a:bodyPr/>
          <a:p/>
        </p:txBody>
      </p:sp>
      <p:pic>
        <p:nvPicPr>
          <p:cNvPr id="20" name="Image 3" descr="/home/claude/icons/un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414" y="3443630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Disaccoppiamento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760720" y="35387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273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Nei paesi più ricchi, crescita del PIL e consumo di energia iniziano a separarsi.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3383280"/>
            <a:ext cx="3291840" cy="3291840"/>
          </a:xfrm>
          <a:prstGeom prst="ellipse">
            <a:avLst/>
          </a:prstGeom>
          <a:solidFill>
            <a:srgbClr val="FBF1DD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63840" y="4160520"/>
            <a:ext cx="1828800" cy="1828800"/>
          </a:xfrm>
          <a:prstGeom prst="ellipse">
            <a:avLst/>
          </a:prstGeom>
          <a:solidFill>
            <a:srgbClr val="FBF1DD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F1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GRAZIE PER L'ATTENZIONE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Università di Genova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3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Analisi e Rappresentazione Dati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108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Descrizione del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Il secondo file: energia_continenti.csv (energia sommata per continente)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Campo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Descrizione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C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continente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Continente (Africa, America, Asia, Europe, Oceania)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Anno  (1965–2022)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C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energia_TWh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2730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Energia totale del continente  (TWh)</a:t>
                      </a:r>
                      <a:endParaRPr lang="en-US" sz="12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Uni</a:t>
            </a:r>
            <a:pPr algn="l" indent="0" marL="0">
              <a:buNone/>
            </a:pPr>
            <a:r>
              <a:rPr lang="en-US" sz="1200" b="1" dirty="0">
                <a:solidFill>
                  <a:srgbClr val="0A2C6B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55280" y="4736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4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